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898880" y="0"/>
            <a:ext cx="4389120" cy="10287000"/>
          </a:xfrm>
          <a:prstGeom prst="rect">
            <a:avLst/>
          </a:prstGeom>
          <a:solidFill>
            <a:srgbClr val="991B2F"/>
          </a:solidFill>
          <a:ln/>
        </p:spPr>
      </p:sp>
      <p:sp>
        <p:nvSpPr>
          <p:cNvPr id="3" name="Shape 1"/>
          <p:cNvSpPr/>
          <p:nvPr/>
        </p:nvSpPr>
        <p:spPr>
          <a:xfrm>
            <a:off x="13487400" y="0"/>
            <a:ext cx="411480" cy="10287000"/>
          </a:xfrm>
          <a:prstGeom prst="rect">
            <a:avLst/>
          </a:prstGeom>
          <a:solidFill>
            <a:srgbClr val="F3DEE2"/>
          </a:solidFill>
          <a:ln/>
        </p:spPr>
      </p:sp>
      <p:pic>
        <p:nvPicPr>
          <p:cNvPr id="4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24688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148840"/>
            <a:ext cx="1234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LAS AMÉRICAS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2514600"/>
            <a:ext cx="1234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 y Ciencias Aplicadas  ·  Ingeniería de Software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3200400"/>
            <a:ext cx="12435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control y monitoreo en tiempo real para la optimización de inventario muerto y rutas logísticas en una microempresa de vidrios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" y="69494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Mosquera Rivadeneira Anthonny Jossue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Ortega Vacas Mateo Michael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03920" y="69494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guía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Salvador González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6B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Quito, Ecuador  ·  Abril 2026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081760" y="46634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173736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56032"/>
            <a:ext cx="1572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Antecedente de la empresa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691640"/>
            <a:ext cx="9052560" cy="8001000"/>
          </a:xfrm>
          <a:prstGeom prst="roundRect">
            <a:avLst>
              <a:gd name="adj" fmla="val 1029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8680" y="1965960"/>
            <a:ext cx="8412480" cy="7452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Distribuidora de vidrio y aluminio</a:t>
            </a:r>
            <a:endParaRPr lang="en-US" sz="200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PYME del sector industrial y comercial con 10 años de trayectoria, ubicada en Quito, Ecuador. Provee vidrio y perfiles de aluminio para el sector de la edificación desde su sede y bodegas de despacho.</a:t>
            </a:r>
            <a:endParaRPr lang="en-US" sz="2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</a:t>
            </a:r>
            <a:endParaRPr lang="en-US" sz="20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Proveer soluciones integrales en vidrio y aluminio de alta calidad para la construcción, con un servicio ágil y personalizado.</a:t>
            </a:r>
            <a:endParaRPr lang="en-US" sz="2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</a:t>
            </a:r>
            <a:endParaRPr lang="en-US" sz="20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Consolidarse para 2030 como distribuidora líder en eficiencia operativa y control de inventarios a nivel regional, integrando tecnologías digitales.</a:t>
            </a:r>
            <a:endParaRPr lang="en-US" sz="2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de mercado</a:t>
            </a:r>
            <a:endParaRPr lang="en-US" sz="2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distribución especializado para “ventaneros”, talleres de aluminio y vidrio y pequeñas constructoras, que exigen alta precisión en dimensiones y tiempos de entrega.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0058400" y="169164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0" y="19202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0058400" y="2880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de trayectoria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2938760" y="169164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2938760" y="19202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12938760" y="2880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5819120" y="169164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5819120" y="19202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~400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15819120" y="2880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ítems en catálogo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058400" y="3977640"/>
            <a:ext cx="7818120" cy="5715000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378440" y="42062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organizacional</a:t>
            </a:r>
            <a:endParaRPr lang="en-US" sz="1800" dirty="0"/>
          </a:p>
        </p:txBody>
      </p:sp>
      <p:pic>
        <p:nvPicPr>
          <p:cNvPr id="17" name="Image 1" descr="assets/or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946611"/>
            <a:ext cx="7223760" cy="135389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378440" y="6720840"/>
            <a:ext cx="7223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áreas de Bodega y Logística (resaltadas) son las beneficiadas directamente por el software; Ventas obtiene visibilidad real del stock de retazos.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173736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56032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del problema o necesidad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194560" y="960120"/>
            <a:ext cx="1572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Inexistencia de trazabilidad y control en el ciclo de vida del vidrio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6235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991B2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37360" y="20116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muerto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retazos no catalogados equivalen a ~15% de las compras anuales e inmovilizan el 20% de la bodega.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28232" y="1691640"/>
            <a:ext cx="56235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48272" y="2011680"/>
            <a:ext cx="685800" cy="685800"/>
          </a:xfrm>
          <a:prstGeom prst="ellipse">
            <a:avLst/>
          </a:prstGeom>
          <a:solidFill>
            <a:srgbClr val="991B2F"/>
          </a:solidFill>
          <a:ln/>
        </p:spPr>
      </p:sp>
      <p:sp>
        <p:nvSpPr>
          <p:cNvPr id="12" name="Text 9"/>
          <p:cNvSpPr/>
          <p:nvPr/>
        </p:nvSpPr>
        <p:spPr>
          <a:xfrm>
            <a:off x="6748272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616952" y="20116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control logístico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793992" y="288036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 validar si el chofer entrega en la ubicación ni el estado; los reclamos no son auditables.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2307824" y="1691640"/>
            <a:ext cx="56235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2627864" y="2011680"/>
            <a:ext cx="685800" cy="685800"/>
          </a:xfrm>
          <a:prstGeom prst="ellipse">
            <a:avLst/>
          </a:prstGeom>
          <a:solidFill>
            <a:srgbClr val="991B2F"/>
          </a:solidFill>
          <a:ln/>
        </p:spPr>
      </p:sp>
      <p:sp>
        <p:nvSpPr>
          <p:cNvPr id="17" name="Text 14"/>
          <p:cNvSpPr/>
          <p:nvPr/>
        </p:nvSpPr>
        <p:spPr>
          <a:xfrm>
            <a:off x="12627864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3496544" y="20116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de inventario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673584" y="288036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Descuadre constante entre el sistema contable y las perchas por no registrar las fracciones de vidrio.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4709160"/>
            <a:ext cx="17190720" cy="4983480"/>
          </a:xfrm>
          <a:prstGeom prst="roundRect">
            <a:avLst>
              <a:gd name="adj" fmla="val 1651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8680" y="489204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causa raíz — Diagrama de Ishikawa (6M)</a:t>
            </a:r>
            <a:endParaRPr lang="en-US" sz="1800" dirty="0"/>
          </a:p>
        </p:txBody>
      </p:sp>
      <p:pic>
        <p:nvPicPr>
          <p:cNvPr id="22" name="Image 1" descr="assets/ishikaw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612" y="5440680"/>
            <a:ext cx="13342776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173736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56032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principales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194560" y="960120"/>
            <a:ext cx="1572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contexto — C4 Modelo, Nivel 1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8138160" cy="7909560"/>
          </a:xfrm>
          <a:prstGeom prst="roundRect">
            <a:avLst>
              <a:gd name="adj" fmla="val 1040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0116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como núcleo de la operación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749808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/ Ventas</a:t>
            </a:r>
            <a:endParaRPr lang="en-US" sz="15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 la asimetría de información consultando el stock real de retazos y planchas.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Bodeguero</a:t>
            </a:r>
            <a:endParaRPr lang="en-US" sz="15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 el sistema con los datos críticos de “inventario muerto” (retazos y cortes).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Chofer</a:t>
            </a:r>
            <a:endParaRPr lang="en-US" sz="15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 las fallas de despacho registrando pruebas de entrega (foto + firma + GPS).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externo GPS / Google Maps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 la veracidad de las entregas en la ubicación de cada cliente.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006840" y="1737360"/>
            <a:ext cx="8732520" cy="7909560"/>
          </a:xfrm>
          <a:prstGeom prst="roundRect">
            <a:avLst>
              <a:gd name="adj" fmla="val 1040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pic>
        <p:nvPicPr>
          <p:cNvPr id="9" name="Image 1" descr="assets/con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257" y="1965960"/>
            <a:ext cx="6789687" cy="7452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173736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56032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principales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194560" y="960120"/>
            <a:ext cx="1572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funcionales del sistema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836676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14884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991B2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488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651760" y="2148840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inventario fraccionado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3063240"/>
            <a:ext cx="7543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planchas enteras y los retazos resultantes de cada corte con sus dimensiones exactas y un identificador único, asegurando la trazabilidad del material.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372600" y="1783080"/>
            <a:ext cx="836676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738360" y="214884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991B2F"/>
          </a:solidFill>
          <a:ln/>
        </p:spPr>
      </p:sp>
      <p:sp>
        <p:nvSpPr>
          <p:cNvPr id="12" name="Text 9"/>
          <p:cNvSpPr/>
          <p:nvPr/>
        </p:nvSpPr>
        <p:spPr>
          <a:xfrm>
            <a:off x="9738360" y="21488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475720" y="2148840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de material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784080" y="3063240"/>
            <a:ext cx="7543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Sugiere automáticamente retazos existentes que cumplan las medidas del pedido antes de autorizar una plancha nueva, priorizando el área más cercana para minimizar el desperdicio.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5897880"/>
            <a:ext cx="836676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626364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991B2F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62636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651760" y="6263640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de entrega (PoD)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960120" y="7178040"/>
            <a:ext cx="7543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foto en vivo y firma digital del cliente al entregar; no se cierra un despacho sin al menos una fotografía y la firma del receptor.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372600" y="5897880"/>
            <a:ext cx="836676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738360" y="626364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991B2F"/>
          </a:solidFill>
          <a:ln/>
        </p:spPr>
      </p:sp>
      <p:sp>
        <p:nvSpPr>
          <p:cNvPr id="22" name="Text 19"/>
          <p:cNvSpPr/>
          <p:nvPr/>
        </p:nvSpPr>
        <p:spPr>
          <a:xfrm>
            <a:off x="9738360" y="62636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1475720" y="6263640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y trazabilidad geográfica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9784080" y="7178040"/>
            <a:ext cx="7543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la geolocalización al firmar, la compara con la dirección del cliente y calcula la desviación; la captura de coordenadas es obligatoria.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173736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56032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no funcionales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194560" y="960120"/>
            <a:ext cx="1572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del software bajo ISO/IEC 25010:2023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5623560" cy="585216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514600"/>
            <a:ext cx="822960" cy="822960"/>
          </a:xfrm>
          <a:prstGeom prst="ellipse">
            <a:avLst/>
          </a:prstGeom>
          <a:solidFill>
            <a:srgbClr val="991B2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620" dirty="0"/>
          </a:p>
        </p:txBody>
      </p:sp>
      <p:sp>
        <p:nvSpPr>
          <p:cNvPr id="8" name="Text 5"/>
          <p:cNvSpPr/>
          <p:nvPr/>
        </p:nvSpPr>
        <p:spPr>
          <a:xfrm>
            <a:off x="1920240" y="2514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RNF-01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29077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374904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inventario y despacho restringido por roles (Administrador, Bodeguero, Chofer).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60120" y="5669280"/>
            <a:ext cx="4800600" cy="0"/>
          </a:xfrm>
          <a:prstGeom prst="line">
            <a:avLst/>
          </a:prstGeom>
          <a:noFill/>
          <a:ln w="12700">
            <a:solidFill>
              <a:srgbClr val="EB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621792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 endpoints y vistas con autenticación JWT y validación de permisos en cada petición.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28232" y="2148840"/>
            <a:ext cx="5623560" cy="585216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93992" y="2514600"/>
            <a:ext cx="822960" cy="822960"/>
          </a:xfrm>
          <a:prstGeom prst="ellipse">
            <a:avLst/>
          </a:prstGeom>
          <a:solidFill>
            <a:srgbClr val="991B2F"/>
          </a:solidFill>
          <a:ln/>
        </p:spPr>
      </p:sp>
      <p:sp>
        <p:nvSpPr>
          <p:cNvPr id="16" name="Text 13"/>
          <p:cNvSpPr/>
          <p:nvPr/>
        </p:nvSpPr>
        <p:spPr>
          <a:xfrm>
            <a:off x="6793992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20" dirty="0"/>
          </a:p>
        </p:txBody>
      </p:sp>
      <p:sp>
        <p:nvSpPr>
          <p:cNvPr id="17" name="Text 14"/>
          <p:cNvSpPr/>
          <p:nvPr/>
        </p:nvSpPr>
        <p:spPr>
          <a:xfrm>
            <a:off x="7799832" y="2514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RNF-02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99832" y="29077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Fiabilidad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39712" y="374904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y precisión de los datos geográficos y fotográficos aun ante fallos de red momentáneos.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39712" y="5669280"/>
            <a:ext cx="4800600" cy="0"/>
          </a:xfrm>
          <a:prstGeom prst="line">
            <a:avLst/>
          </a:prstGeom>
          <a:noFill/>
          <a:ln w="12700">
            <a:solidFill>
              <a:srgbClr val="EBD3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39712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39712" y="621792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para precisión decimal y 0% de pérdida de datos de ubicación al sincronizar la caché móvil.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307824" y="2148840"/>
            <a:ext cx="5623560" cy="585216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2673584" y="2514600"/>
            <a:ext cx="822960" cy="822960"/>
          </a:xfrm>
          <a:prstGeom prst="ellipse">
            <a:avLst/>
          </a:prstGeom>
          <a:solidFill>
            <a:srgbClr val="991B2F"/>
          </a:solidFill>
          <a:ln/>
        </p:spPr>
      </p:sp>
      <p:sp>
        <p:nvSpPr>
          <p:cNvPr id="25" name="Text 22"/>
          <p:cNvSpPr/>
          <p:nvPr/>
        </p:nvSpPr>
        <p:spPr>
          <a:xfrm>
            <a:off x="12673584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</a:t>
            </a:r>
            <a:endParaRPr lang="en-US" sz="1620" dirty="0"/>
          </a:p>
        </p:txBody>
      </p:sp>
      <p:sp>
        <p:nvSpPr>
          <p:cNvPr id="26" name="Text 23"/>
          <p:cNvSpPr/>
          <p:nvPr/>
        </p:nvSpPr>
        <p:spPr>
          <a:xfrm>
            <a:off x="13679424" y="2514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RNF-03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679424" y="29077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2719304" y="374904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móvil intuitiva que minimiza el tiempo de registro en entornos operativos de alta carga.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2719304" y="5669280"/>
            <a:ext cx="4800600" cy="0"/>
          </a:xfrm>
          <a:prstGeom prst="line">
            <a:avLst/>
          </a:prstGeom>
          <a:noFill/>
          <a:ln w="12700">
            <a:solidFill>
              <a:srgbClr val="EBD3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719304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2719304" y="621792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un retazo o entrega en ≤ 4 taps; capacitación menor a 2 horas por rol.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173736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56032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de solución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194560" y="960120"/>
            <a:ext cx="1572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alternativa 1 — Microservicios + App nativa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7863840" cy="7863840"/>
          </a:xfrm>
          <a:prstGeom prst="roundRect">
            <a:avLst>
              <a:gd name="adj" fmla="val 1047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0574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de microservicios y aplicaciones nativas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72237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técnico</a:t>
            </a:r>
            <a:endParaRPr lang="en-US" sz="16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que desacoplan inventario y logística. Backend en Java + Spring Boot, almacenamiento geográfico con PostGIS y API Gateway con Spring Cloud (JWT). App móvil en Flutter con rendimiento nativo sobre cámara y GPS; portal web en React.js.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operativo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bodeguero captura la foto del retazo al instante y el chofer recibe su hoja de ruta; el sistema bloquea el cierre del despacho si no detecta cercanía geográfica al cliente vía GPS.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0" y="1783080"/>
            <a:ext cx="9052560" cy="7863840"/>
          </a:xfrm>
          <a:prstGeom prst="roundRect">
            <a:avLst>
              <a:gd name="adj" fmla="val 1047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006840" y="1965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– Nivel 2 (Container Diagram)</a:t>
            </a:r>
            <a:endParaRPr lang="en-US" sz="1500" dirty="0"/>
          </a:p>
        </p:txBody>
      </p:sp>
      <p:pic>
        <p:nvPicPr>
          <p:cNvPr id="10" name="Image 1" descr="assets/arch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8854" y="2377440"/>
            <a:ext cx="4508453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173736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56032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de solución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194560" y="960120"/>
            <a:ext cx="1572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alternativa 2 — Monolito modular + PWA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0607040" cy="7863840"/>
          </a:xfrm>
          <a:prstGeom prst="roundRect">
            <a:avLst>
              <a:gd name="adj" fmla="val 1047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monolítica modular con Progressive Web App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99669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técnico</a:t>
            </a:r>
            <a:endParaRPr lang="en-US" sz="16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 monolítico modularizado. Servidor en Node.js + Express e interfaz en Angular. En lugar de app nativa, una PWA que facilita actualizaciones inmediatas sin pasar por tiendas de aplicaciones. Base de datos unificada en PostgreSQL.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operativo</a:t>
            </a:r>
            <a:endParaRPr lang="en-US" sz="1600" dirty="0"/>
          </a:p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personal accede desde el navegador de sus dispositivos. Simplifica el despliegue, pero la dependencia del navegador limita la precisión del GPS en segundo plano y la velocidad de captura de fotos frente a una app nativa.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6B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la complejidad de despliegue y los costos de infraestructura, a costa de fiabilidad en el uso del hardware móvil.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30000" y="1783080"/>
            <a:ext cx="6309360" cy="78638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521440" y="19659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– Nivel 2 (Container Diagram)</a:t>
            </a:r>
            <a:endParaRPr lang="en-US" sz="1500" dirty="0"/>
          </a:p>
        </p:txBody>
      </p:sp>
      <p:pic>
        <p:nvPicPr>
          <p:cNvPr id="10" name="Image 1" descr="assets/arc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2426" y="2377440"/>
            <a:ext cx="2044507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173736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56032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la mejor alternativa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194560" y="960120"/>
            <a:ext cx="1572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ponderada bajo ISO/IEC 25010:2023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212080" cy="932688"/>
          </a:xfrm>
          <a:prstGeom prst="rect">
            <a:avLst/>
          </a:prstGeom>
          <a:solidFill>
            <a:srgbClr val="991B2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874520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(ISO 25010)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760720" y="1874520"/>
            <a:ext cx="1737360" cy="932688"/>
          </a:xfrm>
          <a:prstGeom prst="rect">
            <a:avLst/>
          </a:prstGeom>
          <a:solidFill>
            <a:srgbClr val="991B2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874520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8080" y="1874520"/>
            <a:ext cx="1737360" cy="932688"/>
          </a:xfrm>
          <a:prstGeom prst="rect">
            <a:avLst/>
          </a:prstGeom>
          <a:solidFill>
            <a:srgbClr val="991B2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874520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Alt. 1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235440" y="1874520"/>
            <a:ext cx="1737360" cy="932688"/>
          </a:xfrm>
          <a:prstGeom prst="rect">
            <a:avLst/>
          </a:prstGeom>
          <a:solidFill>
            <a:srgbClr val="991B2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72600" y="1874520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Alt. 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2807208"/>
            <a:ext cx="52120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807208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Fiabilidad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60720" y="2807208"/>
            <a:ext cx="17373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280720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98080" y="2807208"/>
            <a:ext cx="17373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280720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9235440" y="2807208"/>
            <a:ext cx="17373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72600" y="280720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48640" y="3739896"/>
            <a:ext cx="5212080" cy="932688"/>
          </a:xfrm>
          <a:prstGeom prst="rect">
            <a:avLst/>
          </a:prstGeom>
          <a:solidFill>
            <a:srgbClr val="FCEFF1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739896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760720" y="3739896"/>
            <a:ext cx="1737360" cy="932688"/>
          </a:xfrm>
          <a:prstGeom prst="rect">
            <a:avLst/>
          </a:prstGeom>
          <a:solidFill>
            <a:srgbClr val="FCEFF1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97880" y="3739896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498080" y="3739896"/>
            <a:ext cx="1737360" cy="932688"/>
          </a:xfrm>
          <a:prstGeom prst="rect">
            <a:avLst/>
          </a:prstGeom>
          <a:solidFill>
            <a:srgbClr val="FCEFF1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35240" y="3739896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235440" y="3739896"/>
            <a:ext cx="1737360" cy="932688"/>
          </a:xfrm>
          <a:prstGeom prst="rect">
            <a:avLst/>
          </a:prstGeom>
          <a:solidFill>
            <a:srgbClr val="FCEFF1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72600" y="3739896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48640" y="4672584"/>
            <a:ext cx="52120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672584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Mantenibilidad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760720" y="4672584"/>
            <a:ext cx="17373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97880" y="4672584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498080" y="4672584"/>
            <a:ext cx="17373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672584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9235440" y="4672584"/>
            <a:ext cx="17373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372600" y="4672584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548640" y="5605272"/>
            <a:ext cx="5212080" cy="932688"/>
          </a:xfrm>
          <a:prstGeom prst="rect">
            <a:avLst/>
          </a:prstGeom>
          <a:solidFill>
            <a:srgbClr val="FCEFF1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5800" y="5605272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760720" y="5605272"/>
            <a:ext cx="1737360" cy="932688"/>
          </a:xfrm>
          <a:prstGeom prst="rect">
            <a:avLst/>
          </a:prstGeom>
          <a:solidFill>
            <a:srgbClr val="FCEFF1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97880" y="5605272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498080" y="5605272"/>
            <a:ext cx="1737360" cy="932688"/>
          </a:xfrm>
          <a:prstGeom prst="rect">
            <a:avLst/>
          </a:prstGeom>
          <a:solidFill>
            <a:srgbClr val="FCEFF1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35240" y="5605272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9235440" y="5605272"/>
            <a:ext cx="1737360" cy="932688"/>
          </a:xfrm>
          <a:prstGeom prst="rect">
            <a:avLst/>
          </a:prstGeom>
          <a:solidFill>
            <a:srgbClr val="FCEFF1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372600" y="5605272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548640" y="6537960"/>
            <a:ext cx="52120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85800" y="6537960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5760720" y="6537960"/>
            <a:ext cx="17373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897880" y="6537960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498080" y="6537960"/>
            <a:ext cx="17373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635240" y="6537960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51" name="Shape 48"/>
          <p:cNvSpPr/>
          <p:nvPr/>
        </p:nvSpPr>
        <p:spPr>
          <a:xfrm>
            <a:off x="9235440" y="6537960"/>
            <a:ext cx="17373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372600" y="6537960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53" name="Shape 50"/>
          <p:cNvSpPr/>
          <p:nvPr/>
        </p:nvSpPr>
        <p:spPr>
          <a:xfrm>
            <a:off x="548640" y="7470648"/>
            <a:ext cx="5212080" cy="932688"/>
          </a:xfrm>
          <a:prstGeom prst="rect">
            <a:avLst/>
          </a:prstGeom>
          <a:solidFill>
            <a:srgbClr val="F3DEE2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85800" y="7470648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ponderado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5760720" y="7470648"/>
            <a:ext cx="1737360" cy="932688"/>
          </a:xfrm>
          <a:prstGeom prst="rect">
            <a:avLst/>
          </a:prstGeom>
          <a:solidFill>
            <a:srgbClr val="F3DEE2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897880" y="747064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7498080" y="7470648"/>
            <a:ext cx="1737360" cy="932688"/>
          </a:xfrm>
          <a:prstGeom prst="rect">
            <a:avLst/>
          </a:prstGeom>
          <a:solidFill>
            <a:srgbClr val="F3DEE2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635240" y="747064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2000" dirty="0"/>
          </a:p>
        </p:txBody>
      </p:sp>
      <p:sp>
        <p:nvSpPr>
          <p:cNvPr id="59" name="Shape 56"/>
          <p:cNvSpPr/>
          <p:nvPr/>
        </p:nvSpPr>
        <p:spPr>
          <a:xfrm>
            <a:off x="9235440" y="7470648"/>
            <a:ext cx="1737360" cy="932688"/>
          </a:xfrm>
          <a:prstGeom prst="rect">
            <a:avLst/>
          </a:prstGeom>
          <a:solidFill>
            <a:srgbClr val="F3DEE2"/>
          </a:solidFill>
          <a:ln w="9525">
            <a:solidFill>
              <a:srgbClr val="EBD3D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372600" y="747064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000" dirty="0"/>
          </a:p>
        </p:txBody>
      </p:sp>
      <p:sp>
        <p:nvSpPr>
          <p:cNvPr id="61" name="Text 58"/>
          <p:cNvSpPr/>
          <p:nvPr/>
        </p:nvSpPr>
        <p:spPr>
          <a:xfrm>
            <a:off x="548640" y="849477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1 (Pobre) a 5 (Excelente).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11338560" y="1874520"/>
            <a:ext cx="6400800" cy="7772400"/>
          </a:xfrm>
          <a:prstGeom prst="roundRect">
            <a:avLst>
              <a:gd name="adj" fmla="val 1286"/>
            </a:avLst>
          </a:prstGeom>
          <a:solidFill>
            <a:srgbClr val="991B2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11612880" y="2194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 seleccionada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1612880" y="2651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+ App nativa</a:t>
            </a:r>
            <a:endParaRPr lang="en-US" sz="2600" dirty="0"/>
          </a:p>
        </p:txBody>
      </p:sp>
      <p:sp>
        <p:nvSpPr>
          <p:cNvPr id="65" name="Text 62"/>
          <p:cNvSpPr/>
          <p:nvPr/>
        </p:nvSpPr>
        <p:spPr>
          <a:xfrm>
            <a:off x="11612880" y="36118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0" dirty="0"/>
          </a:p>
        </p:txBody>
      </p:sp>
      <p:sp>
        <p:nvSpPr>
          <p:cNvPr id="66" name="Text 63"/>
          <p:cNvSpPr/>
          <p:nvPr/>
        </p:nvSpPr>
        <p:spPr>
          <a:xfrm>
            <a:off x="14538960" y="3794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 3.4</a:t>
            </a:r>
            <a:endParaRPr lang="en-US" sz="2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3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Alt. 2</a:t>
            </a:r>
            <a:endParaRPr lang="en-US" sz="2600" dirty="0"/>
          </a:p>
        </p:txBody>
      </p:sp>
      <p:sp>
        <p:nvSpPr>
          <p:cNvPr id="67" name="Text 64"/>
          <p:cNvSpPr/>
          <p:nvPr/>
        </p:nvSpPr>
        <p:spPr>
          <a:xfrm>
            <a:off x="11612880" y="534924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 técnica: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7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tecnología nativa hace infalible la captura de foto y coordenadas GPS.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en bodega: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7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registro de retazos toma segundos con integración fluida a la cámara.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ISO 25010: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7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microservicios con Spring Boot garantizan mantenibilidad y escalabilidad a futuro.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173736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56032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194560" y="960120"/>
            <a:ext cx="1572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y específicos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7190720" cy="2331720"/>
          </a:xfrm>
          <a:prstGeom prst="roundRect">
            <a:avLst>
              <a:gd name="adj" fmla="val 3529"/>
            </a:avLst>
          </a:prstGeom>
          <a:solidFill>
            <a:srgbClr val="991B2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11680"/>
            <a:ext cx="1636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3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1636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 sistema de control y monitoreo del flujo de trabajo, mediante una arquitectura de microservicios y una aplicación móvil nativa, para registrar el inventario fraccionado de vidrio y gestionar la trazabilidad logística de las entregas en la distribuidora.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4434840"/>
            <a:ext cx="83667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4800600"/>
            <a:ext cx="777240" cy="777240"/>
          </a:xfrm>
          <a:prstGeom prst="ellipse">
            <a:avLst/>
          </a:prstGeom>
          <a:solidFill>
            <a:srgbClr val="991B2F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800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30" dirty="0"/>
          </a:p>
        </p:txBody>
      </p:sp>
      <p:sp>
        <p:nvSpPr>
          <p:cNvPr id="11" name="Text 8"/>
          <p:cNvSpPr/>
          <p:nvPr/>
        </p:nvSpPr>
        <p:spPr>
          <a:xfrm>
            <a:off x="1920240" y="480060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60120" y="5669280"/>
            <a:ext cx="7543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los requerimientos funcionales y no funcionales de bodega y despacho con modelado BPMN y los criterios de la norma ISO/IEC 25010:2023, para fijar la línea base y el alcance del producto.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372600" y="4434840"/>
            <a:ext cx="83667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738360" y="4800600"/>
            <a:ext cx="777240" cy="777240"/>
          </a:xfrm>
          <a:prstGeom prst="ellipse">
            <a:avLst/>
          </a:prstGeom>
          <a:solidFill>
            <a:srgbClr val="991B2F"/>
          </a:solidFill>
          <a:ln/>
        </p:spPr>
      </p:sp>
      <p:sp>
        <p:nvSpPr>
          <p:cNvPr id="15" name="Text 12"/>
          <p:cNvSpPr/>
          <p:nvPr/>
        </p:nvSpPr>
        <p:spPr>
          <a:xfrm>
            <a:off x="9738360" y="4800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30" dirty="0"/>
          </a:p>
        </p:txBody>
      </p:sp>
      <p:sp>
        <p:nvSpPr>
          <p:cNvPr id="16" name="Text 13"/>
          <p:cNvSpPr/>
          <p:nvPr/>
        </p:nvSpPr>
        <p:spPr>
          <a:xfrm>
            <a:off x="10744200" y="480060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784080" y="5669280"/>
            <a:ext cx="7543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la arquitectura del sistema y el modelo de persistencia con el estándar C4 y esquemas relacionales con soporte espacial (PostGIS), estructurando de forma independiente inventario y logística.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7269480"/>
            <a:ext cx="83667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14400" y="7635240"/>
            <a:ext cx="777240" cy="777240"/>
          </a:xfrm>
          <a:prstGeom prst="ellipse">
            <a:avLst/>
          </a:prstGeom>
          <a:solidFill>
            <a:srgbClr val="991B2F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7635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30" dirty="0"/>
          </a:p>
        </p:txBody>
      </p:sp>
      <p:sp>
        <p:nvSpPr>
          <p:cNvPr id="21" name="Text 18"/>
          <p:cNvSpPr/>
          <p:nvPr/>
        </p:nvSpPr>
        <p:spPr>
          <a:xfrm>
            <a:off x="1920240" y="763524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60120" y="8503920"/>
            <a:ext cx="7543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el ecosistema multiplataforma con Spring Boot para los microservicios backend y Flutter para la app móvil, proveyendo el registro de retazos y la captura de evidencia de entrega (PoD).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372600" y="7269480"/>
            <a:ext cx="83667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738360" y="7635240"/>
            <a:ext cx="777240" cy="777240"/>
          </a:xfrm>
          <a:prstGeom prst="ellipse">
            <a:avLst/>
          </a:prstGeom>
          <a:solidFill>
            <a:srgbClr val="991B2F"/>
          </a:solidFill>
          <a:ln/>
        </p:spPr>
      </p:sp>
      <p:sp>
        <p:nvSpPr>
          <p:cNvPr id="25" name="Text 22"/>
          <p:cNvSpPr/>
          <p:nvPr/>
        </p:nvSpPr>
        <p:spPr>
          <a:xfrm>
            <a:off x="9738360" y="7635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30" dirty="0"/>
          </a:p>
        </p:txBody>
      </p:sp>
      <p:sp>
        <p:nvSpPr>
          <p:cNvPr id="26" name="Text 23"/>
          <p:cNvSpPr/>
          <p:nvPr/>
        </p:nvSpPr>
        <p:spPr>
          <a:xfrm>
            <a:off x="10744200" y="763524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784080" y="8503920"/>
            <a:ext cx="7543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el plan integral de pruebas (unitarias, de integración y UAT) en entorno controlado, para certificar el cumplimiento de fiabilidad, usabilidad y seguridad definidos en el diseño.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173736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56032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194560" y="960120"/>
            <a:ext cx="1572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casos de uso del sistema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7680960" cy="78638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0574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Declaración del alcance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7040880" cy="676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portal web administrativo y una app móvil operativa que cubren el ciclo completo de trazabilidad:</a:t>
            </a:r>
            <a:endParaRPr lang="en-US" sz="16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sugiere usar un retazo disponible en lugar de una plancha nueva al recibir un pedido de corte.</a:t>
            </a:r>
            <a:endParaRPr lang="en-US" sz="16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bodeguero registra en bodega las dimensiones sobrantes resultantes del corte.</a:t>
            </a:r>
            <a:endParaRPr lang="en-US" sz="16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chofer registra la entrega con foto y coordenadas GPS, cerrando el pedido como “Completado”.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del alcance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electrónica y contabilidad, integración con ERP/CRM (SAP, Odoo), pasarelas de pago y optimización de rutas con IA.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503920" y="1783080"/>
            <a:ext cx="9235440" cy="7863840"/>
          </a:xfrm>
          <a:prstGeom prst="roundRect">
            <a:avLst>
              <a:gd name="adj" fmla="val 1047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2011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de Ciclo Cerrado</a:t>
            </a:r>
            <a:endParaRPr lang="en-US" sz="1600" dirty="0"/>
          </a:p>
        </p:txBody>
      </p:sp>
      <p:pic>
        <p:nvPicPr>
          <p:cNvPr id="10" name="Image 1" descr="assets/use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478" y="2468880"/>
            <a:ext cx="3664324" cy="3657600"/>
          </a:xfrm>
          <a:prstGeom prst="rect">
            <a:avLst/>
          </a:prstGeom>
        </p:spPr>
      </p:pic>
      <p:pic>
        <p:nvPicPr>
          <p:cNvPr id="11" name="Image 2" descr="assets/uc_in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324" y="6172200"/>
            <a:ext cx="4108073" cy="3291840"/>
          </a:xfrm>
          <a:prstGeom prst="rect">
            <a:avLst/>
          </a:prstGeom>
        </p:spPr>
      </p:pic>
      <p:pic>
        <p:nvPicPr>
          <p:cNvPr id="12" name="Image 3" descr="assets/uc_lo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7294" y="6172200"/>
            <a:ext cx="306637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../logo_ud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01168"/>
            <a:ext cx="173736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56032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194560" y="960120"/>
            <a:ext cx="1572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funcional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623560" cy="781812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pic>
        <p:nvPicPr>
          <p:cNvPr id="6" name="Image 1" descr="assets/proto_ev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756" y="2057400"/>
            <a:ext cx="4393328" cy="448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7208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web — Administrador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731520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clave (pedidos pendientes, despachos en ruta) e inventario que diferencia planchas enteras de retazos, con evidencia de entrega verificable.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28232" y="1783080"/>
            <a:ext cx="5623560" cy="781812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pic>
        <p:nvPicPr>
          <p:cNvPr id="10" name="Image 2" descr="assets/proto_bodeg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604" y="2057400"/>
            <a:ext cx="3662815" cy="44805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93992" y="67208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 — Bodega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793992" y="731520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de ingreso rápido con campos grandes para base y altura del sobrante y captura de foto referencial del retazo.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2307824" y="1783080"/>
            <a:ext cx="5623560" cy="781812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EBD3D8"/>
            </a:solidFill>
            <a:prstDash val="solid"/>
          </a:ln>
          <a:effectLst>
            <a:outerShdw sx="100000" sy="100000" kx="0" ky="0" algn="bl" rotWithShape="0" blurRad="88900" dist="38100" dir="5400000">
              <a:srgbClr val="8A5560">
                <a:alpha val="16000"/>
              </a:srgbClr>
            </a:outerShdw>
          </a:effectLst>
        </p:spPr>
      </p:sp>
      <p:pic>
        <p:nvPicPr>
          <p:cNvPr id="14" name="Image 3" descr="assets/proto_chof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4357" y="2057400"/>
            <a:ext cx="3250493" cy="44805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73584" y="67208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 — Chofer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12673584" y="731520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23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Despachos del día, cámara nativa para el Proof of Delivery, firma táctil del cliente y lectura transparente de coordenadas GPS.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Anteproyecto Capstone - Sistema de Ciclo Cerrado</dc:title>
  <dc:subject>PptxGenJS Presentation</dc:subject>
  <dc:creator>Mosquera A. / Ortega M.</dc:creator>
  <cp:lastModifiedBy>Mosquera A. / Ortega M.</cp:lastModifiedBy>
  <cp:revision>1</cp:revision>
  <dcterms:created xsi:type="dcterms:W3CDTF">2026-07-06T20:23:36Z</dcterms:created>
  <dcterms:modified xsi:type="dcterms:W3CDTF">2026-07-06T20:23:36Z</dcterms:modified>
</cp:coreProperties>
</file>